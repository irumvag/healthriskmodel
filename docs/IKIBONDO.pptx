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68" r:id="rId5"/>
    <p:sldId id="267" r:id="rId6"/>
    <p:sldId id="265" r:id="rId7"/>
    <p:sldId id="266" r:id="rId8"/>
    <p:sldId id="264" r:id="rId9"/>
    <p:sldId id="263" r:id="rId10"/>
    <p:sldId id="262" r:id="rId11"/>
    <p:sldId id="261" r:id="rId12"/>
    <p:sldId id="259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154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45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02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160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435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15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45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20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44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66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68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12/11/2025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138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3E0473-C315-42D8-A82A-A2FE49DC6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23A251-68F2-43E5-812B-4BBAE1A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C3E36F-20FB-CF86-277D-ECF6E1D425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0193" r="-1" b="23543"/>
          <a:stretch>
            <a:fillRect/>
          </a:stretch>
        </p:blipFill>
        <p:spPr>
          <a:xfrm>
            <a:off x="1525" y="10"/>
            <a:ext cx="12188951" cy="6857990"/>
          </a:xfrm>
          <a:prstGeom prst="rect">
            <a:avLst/>
          </a:prstGeom>
        </p:spPr>
      </p:pic>
      <p:grpSp>
        <p:nvGrpSpPr>
          <p:cNvPr id="13" name="decorative circle">
            <a:extLst>
              <a:ext uri="{FF2B5EF4-FFF2-40B4-BE49-F238E27FC236}">
                <a16:creationId xmlns:a16="http://schemas.microsoft.com/office/drawing/2014/main" id="{0350AF23-2606-421F-AB7B-23D9B48F3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4102" y="236341"/>
            <a:ext cx="11340713" cy="5464029"/>
            <a:chOff x="314102" y="236341"/>
            <a:chExt cx="11340713" cy="5464029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26A544A-3C76-4502-A741-F4DB0E2CD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448" y="38039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17B8593-D171-47B5-8D1A-E34E7B138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4102" y="3044381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EF60D4-64F6-450F-B86D-383EEA1C8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8374" y="386135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97D4A7C-B520-46CB-9A94-711F53997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5714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B7B976F-E84B-4936-90D7-C8298A5E7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1535" y="2516671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C91FFEC-59DF-4D22-A925-F51520769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30142" y="458803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8931E95-0847-47E4-8AEC-312312A03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02046" y="5394590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C094915-EF93-49A0-9B90-C44FB9B5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08287" y="5160714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6AE658-7C51-1E18-69D1-0ACDECC02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2606" y="1122363"/>
            <a:ext cx="7063739" cy="2387600"/>
          </a:xfrm>
        </p:spPr>
        <p:txBody>
          <a:bodyPr>
            <a:normAutofit/>
          </a:bodyPr>
          <a:lstStyle/>
          <a:p>
            <a:r>
              <a:rPr lang="en-US" sz="4200" dirty="0">
                <a:solidFill>
                  <a:srgbClr val="FFFFFF"/>
                </a:solidFill>
                <a:effectLst/>
              </a:rPr>
              <a:t>IKIBONDO: AI-driven </a:t>
            </a:r>
            <a:r>
              <a:rPr lang="en-US" sz="4200" dirty="0">
                <a:solidFill>
                  <a:srgbClr val="FFFFFF"/>
                </a:solidFill>
              </a:rPr>
              <a:t>ba</a:t>
            </a:r>
            <a:r>
              <a:rPr lang="en-US" sz="4200" dirty="0">
                <a:solidFill>
                  <a:srgbClr val="FFFFFF"/>
                </a:solidFill>
                <a:effectLst/>
              </a:rPr>
              <a:t>by </a:t>
            </a:r>
            <a:r>
              <a:rPr lang="en-US" sz="4200" dirty="0">
                <a:solidFill>
                  <a:srgbClr val="FFFFFF"/>
                </a:solidFill>
              </a:rPr>
              <a:t>h</a:t>
            </a:r>
            <a:r>
              <a:rPr lang="en-US" sz="4200" dirty="0">
                <a:solidFill>
                  <a:srgbClr val="FFFFFF"/>
                </a:solidFill>
                <a:effectLst/>
              </a:rPr>
              <a:t>ealth </a:t>
            </a:r>
            <a:r>
              <a:rPr lang="en-US" sz="4200" dirty="0">
                <a:solidFill>
                  <a:srgbClr val="FFFFFF"/>
                </a:solidFill>
              </a:rPr>
              <a:t>r</a:t>
            </a:r>
            <a:r>
              <a:rPr lang="en-US" sz="4200" dirty="0">
                <a:solidFill>
                  <a:srgbClr val="FFFFFF"/>
                </a:solidFill>
                <a:effectLst/>
              </a:rPr>
              <a:t>isk </a:t>
            </a:r>
            <a:r>
              <a:rPr lang="en-US" sz="4200" dirty="0">
                <a:solidFill>
                  <a:srgbClr val="FFFFFF"/>
                </a:solidFill>
              </a:rPr>
              <a:t>m</a:t>
            </a:r>
            <a:r>
              <a:rPr lang="en-US" sz="4200" dirty="0">
                <a:solidFill>
                  <a:srgbClr val="FFFFFF"/>
                </a:solidFill>
                <a:effectLst/>
              </a:rPr>
              <a:t>onitoring and vaccination </a:t>
            </a:r>
            <a:r>
              <a:rPr lang="en-US" sz="4200" dirty="0">
                <a:solidFill>
                  <a:srgbClr val="FFFFFF"/>
                </a:solidFill>
              </a:rPr>
              <a:t>s</a:t>
            </a:r>
            <a:r>
              <a:rPr lang="en-US" sz="4200" dirty="0">
                <a:solidFill>
                  <a:srgbClr val="FFFFFF"/>
                </a:solidFill>
                <a:effectLst/>
              </a:rPr>
              <a:t>cheduling </a:t>
            </a:r>
            <a:r>
              <a:rPr lang="en-US" sz="4200" dirty="0">
                <a:solidFill>
                  <a:srgbClr val="FFFFFF"/>
                </a:solidFill>
              </a:rPr>
              <a:t>s</a:t>
            </a:r>
            <a:r>
              <a:rPr lang="en-US" sz="4200" dirty="0">
                <a:solidFill>
                  <a:srgbClr val="FFFFFF"/>
                </a:solidFill>
                <a:effectLst/>
              </a:rPr>
              <a:t>ystem</a:t>
            </a:r>
            <a:endParaRPr lang="en-GB" sz="42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D535A-C0E6-73D7-44B3-DCBF94C2F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2606" y="3602037"/>
            <a:ext cx="8217689" cy="2814805"/>
          </a:xfrm>
        </p:spPr>
        <p:txBody>
          <a:bodyPr>
            <a:normAutofit/>
          </a:bodyPr>
          <a:lstStyle/>
          <a:p>
            <a:r>
              <a:rPr lang="sv-SE" sz="2000" dirty="0">
                <a:solidFill>
                  <a:srgbClr val="FFFFFF"/>
                </a:solidFill>
                <a:effectLst/>
              </a:rPr>
              <a:t>IRUMVA Gad Anaclet (223000471) </a:t>
            </a:r>
          </a:p>
          <a:p>
            <a:r>
              <a:rPr lang="sv-SE" sz="2000" dirty="0">
                <a:solidFill>
                  <a:srgbClr val="FFFFFF"/>
                </a:solidFill>
                <a:effectLst/>
              </a:rPr>
              <a:t>TUMUKUNDE Gentille (223021200)</a:t>
            </a:r>
          </a:p>
          <a:p>
            <a:r>
              <a:rPr lang="en-US" sz="2000" dirty="0">
                <a:solidFill>
                  <a:srgbClr val="FFFFFF"/>
                </a:solidFill>
                <a:effectLst/>
              </a:rPr>
              <a:t>University of Rwanda, School of Science and Technology</a:t>
            </a:r>
          </a:p>
          <a:p>
            <a:r>
              <a:rPr lang="en-GB" sz="2000" dirty="0">
                <a:solidFill>
                  <a:srgbClr val="FFFFFF"/>
                </a:solidFill>
                <a:effectLst/>
              </a:rPr>
              <a:t>December 11, 2025</a:t>
            </a:r>
          </a:p>
          <a:p>
            <a:pPr algn="l"/>
            <a:endParaRPr lang="en-GB" sz="2000" dirty="0">
              <a:solidFill>
                <a:srgbClr val="FFFFFF"/>
              </a:solidFill>
            </a:endParaRPr>
          </a:p>
          <a:p>
            <a:pPr algn="l"/>
            <a:r>
              <a:rPr lang="sv-SE" sz="2000" dirty="0">
                <a:solidFill>
                  <a:srgbClr val="FFFFFF"/>
                </a:solidFill>
                <a:effectLst/>
              </a:rPr>
              <a:t>[Insert GitHub URL here] (Include requirements.txt for package versions: e.g., pandas, numpy, scikit-learn, imblearn)</a:t>
            </a:r>
          </a:p>
          <a:p>
            <a:endParaRPr lang="en-GB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423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C3620-153C-F78E-4269-9107192BB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Project overview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D6ABA-AE70-427B-7F1C-A6479AD96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/>
              <a:t>Background</a:t>
            </a:r>
            <a:r>
              <a:rPr lang="en-US" sz="2800" dirty="0"/>
              <a:t>: Child health in Rwanda faces challenges like manual tracking, data loss, delayed interventions, and low vaccination coverage.</a:t>
            </a:r>
          </a:p>
          <a:p>
            <a:pPr marL="0" indent="0">
              <a:buNone/>
            </a:pPr>
            <a:r>
              <a:rPr lang="en-US" sz="2800" b="1" dirty="0"/>
              <a:t>Problem Statement</a:t>
            </a:r>
            <a:r>
              <a:rPr lang="en-US" sz="2800" dirty="0"/>
              <a:t>: Lack of real-time risk assessment, automated vaccination tracking, and integrated decision support for CHWs and clinicians.</a:t>
            </a:r>
          </a:p>
          <a:p>
            <a:pPr marL="0" indent="0">
              <a:buNone/>
            </a:pPr>
            <a:r>
              <a:rPr lang="en-US" sz="2800" b="1" dirty="0"/>
              <a:t>Objectives</a:t>
            </a:r>
            <a:r>
              <a:rPr lang="en-US" sz="2800" dirty="0"/>
              <a:t>: Develop </a:t>
            </a:r>
            <a:r>
              <a:rPr lang="en-US" sz="2800" dirty="0" err="1"/>
              <a:t>HealthRiskModel</a:t>
            </a:r>
            <a:r>
              <a:rPr lang="en-US" sz="2800" dirty="0"/>
              <a:t> (ML classifier for Low/Medium/High risk).Implement Vaccination Status Logic (rule-based).Build integrated IKIBONDO system for deployment.</a:t>
            </a:r>
          </a:p>
          <a:p>
            <a:pPr marL="0" indent="0">
              <a:buNone/>
            </a:pPr>
            <a:r>
              <a:rPr lang="en-US" sz="2800" b="1" dirty="0"/>
              <a:t>Progress</a:t>
            </a:r>
            <a:r>
              <a:rPr lang="en-US" sz="2800" dirty="0"/>
              <a:t>: System architecture designed; ML model trained and evaluated; rule-based logic implemented.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764233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19F76-7877-E2D4-CC64-D3369B96A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51181-88F0-66BB-43E2-019FA3F58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825625"/>
            <a:ext cx="5307966" cy="4351338"/>
          </a:xfrm>
        </p:spPr>
        <p:txBody>
          <a:bodyPr/>
          <a:lstStyle/>
          <a:p>
            <a:r>
              <a:rPr lang="en-GB" b="1" dirty="0"/>
              <a:t>Components:</a:t>
            </a:r>
            <a:r>
              <a:rPr lang="en-GB" dirty="0"/>
              <a:t> Data Integration: Synthetic dataset (100k records), WHO growth standards, Rwanda vaccine schedule.</a:t>
            </a:r>
          </a:p>
          <a:p>
            <a:pPr lvl="1"/>
            <a:r>
              <a:rPr lang="en-GB" dirty="0"/>
              <a:t>ML Module: </a:t>
            </a:r>
            <a:r>
              <a:rPr lang="en-GB" dirty="0" err="1"/>
              <a:t>HealthRiskModel</a:t>
            </a:r>
            <a:r>
              <a:rPr lang="en-GB" dirty="0"/>
              <a:t> for risk prediction.</a:t>
            </a:r>
          </a:p>
          <a:p>
            <a:pPr lvl="1"/>
            <a:r>
              <a:rPr lang="en-GB" dirty="0"/>
              <a:t>Vaccination Module: Rule-based adherence classification (Good/Medium/Poor).</a:t>
            </a:r>
          </a:p>
          <a:p>
            <a:pPr lvl="1"/>
            <a:r>
              <a:rPr lang="en-GB" dirty="0"/>
              <a:t>User Interface (Planned): CHW dashboard, caregiver app, clinician portal.</a:t>
            </a:r>
          </a:p>
          <a:p>
            <a:r>
              <a:rPr lang="en-US" dirty="0"/>
              <a:t>Progress: Full pipeline implemented (data flow from collection to inference).</a:t>
            </a:r>
          </a:p>
          <a:p>
            <a:endParaRPr lang="en-GB" dirty="0"/>
          </a:p>
        </p:txBody>
      </p:sp>
      <p:pic>
        <p:nvPicPr>
          <p:cNvPr id="5" name="Picture 4" descr="A diagram of a system&#10;&#10;AI-generated content may be incorrect.">
            <a:extLst>
              <a:ext uri="{FF2B5EF4-FFF2-40B4-BE49-F238E27FC236}">
                <a16:creationId xmlns:a16="http://schemas.microsoft.com/office/drawing/2014/main" id="{0063E97E-CD2A-4A6B-1D0A-61268C212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063" y="1319787"/>
            <a:ext cx="6119446" cy="471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11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F8E18AC-903E-4B46-8CC0-FE20E612C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EE38FB-0763-470C-8A5E-44456B513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EBF94E-F4C6-60E7-51E6-1BA4C66D3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39" y="429907"/>
            <a:ext cx="5651597" cy="1777437"/>
          </a:xfrm>
        </p:spPr>
        <p:txBody>
          <a:bodyPr anchor="b">
            <a:normAutofit/>
          </a:bodyPr>
          <a:lstStyle/>
          <a:p>
            <a:r>
              <a:rPr lang="en-GB" sz="4400" b="1" dirty="0"/>
              <a:t>Data &amp; Preprocessing</a:t>
            </a:r>
            <a:endParaRPr lang="en-GB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A0102-E2A4-9846-81F8-131ACC8A9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39" y="2207345"/>
            <a:ext cx="5514171" cy="3969618"/>
          </a:xfrm>
        </p:spPr>
        <p:txBody>
          <a:bodyPr anchor="t">
            <a:noAutofit/>
          </a:bodyPr>
          <a:lstStyle/>
          <a:p>
            <a:r>
              <a:rPr lang="en-GB" sz="1800" dirty="0"/>
              <a:t>Dataset: 100k synthetic newborn records (0-6+ years); features include demographics, vitals, growth, feeding, immunization.</a:t>
            </a:r>
          </a:p>
          <a:p>
            <a:r>
              <a:rPr lang="en-GB" sz="1800" dirty="0"/>
              <a:t>Feature Engineering: 39 features (20 numeric, 10 binary, 5 categorical) e.g., </a:t>
            </a:r>
            <a:r>
              <a:rPr lang="en-GB" sz="1800" dirty="0" err="1"/>
              <a:t>age_months</a:t>
            </a:r>
            <a:r>
              <a:rPr lang="en-GB" sz="1800" dirty="0"/>
              <a:t>, </a:t>
            </a:r>
            <a:r>
              <a:rPr lang="en-GB" sz="1800" dirty="0" err="1"/>
              <a:t>bmi_like</a:t>
            </a:r>
            <a:r>
              <a:rPr lang="en-GB" sz="1800" dirty="0"/>
              <a:t>, </a:t>
            </a:r>
            <a:r>
              <a:rPr lang="en-GB" sz="1800" dirty="0" err="1"/>
              <a:t>fever_flag</a:t>
            </a:r>
            <a:r>
              <a:rPr lang="en-GB" sz="1800" dirty="0"/>
              <a:t>, </a:t>
            </a:r>
            <a:r>
              <a:rPr lang="en-GB" sz="1800" dirty="0" err="1"/>
              <a:t>due_vaccines_count</a:t>
            </a:r>
            <a:r>
              <a:rPr lang="en-GB" sz="1800" dirty="0"/>
              <a:t>.</a:t>
            </a:r>
          </a:p>
          <a:p>
            <a:r>
              <a:rPr lang="en-GB" sz="1800" dirty="0"/>
              <a:t>Preprocessing Steps: Cleaning, validation, scaling (</a:t>
            </a:r>
            <a:r>
              <a:rPr lang="en-GB" sz="1800" dirty="0" err="1"/>
              <a:t>StandardScaler</a:t>
            </a:r>
            <a:r>
              <a:rPr lang="en-GB" sz="1800" dirty="0"/>
              <a:t>), encoding (</a:t>
            </a:r>
            <a:r>
              <a:rPr lang="en-GB" sz="1800" dirty="0" err="1"/>
              <a:t>OneHotEncoder</a:t>
            </a:r>
            <a:r>
              <a:rPr lang="en-GB" sz="1800" dirty="0"/>
              <a:t>), SMOTE for imbalance.</a:t>
            </a:r>
          </a:p>
          <a:p>
            <a:r>
              <a:rPr lang="en-GB" sz="1800" dirty="0"/>
              <a:t>Class Distribution (Before/After SMOTE):</a:t>
            </a:r>
          </a:p>
          <a:p>
            <a:pPr lvl="1"/>
            <a:r>
              <a:rPr lang="en-GB" dirty="0"/>
              <a:t>Before: Low ~75%, Medium ~19%, High ~5%.</a:t>
            </a:r>
          </a:p>
          <a:p>
            <a:pPr lvl="1"/>
            <a:r>
              <a:rPr lang="en-GB" dirty="0"/>
              <a:t>After: Balanced (60k each class).Progress: Dataset processed; code in preprocessing.py and HealthRiskModel_smote.py.</a:t>
            </a:r>
          </a:p>
        </p:txBody>
      </p:sp>
      <p:sp>
        <p:nvSpPr>
          <p:cNvPr id="16" name="Oval 1">
            <a:extLst>
              <a:ext uri="{FF2B5EF4-FFF2-40B4-BE49-F238E27FC236}">
                <a16:creationId xmlns:a16="http://schemas.microsoft.com/office/drawing/2014/main" id="{F1D6E6C0-11C7-4A38-BD12-80741960B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1411" y="557332"/>
            <a:ext cx="5743337" cy="57433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decorative circles">
            <a:extLst>
              <a:ext uri="{FF2B5EF4-FFF2-40B4-BE49-F238E27FC236}">
                <a16:creationId xmlns:a16="http://schemas.microsoft.com/office/drawing/2014/main" id="{2B16E781-E64A-4007-B0F1-5A50135A4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062" y="289695"/>
            <a:ext cx="4971115" cy="6138399"/>
            <a:chOff x="6870062" y="289695"/>
            <a:chExt cx="4971115" cy="6138399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F5849D6-7C1F-435A-8BEB-2A37173B6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43605" y="289695"/>
              <a:ext cx="226735" cy="226735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C6C5D90-0568-4F1C-9392-536D4E32E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74736" y="5667686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069E425-421F-469A-9C32-9FB5C16E5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27805" y="5275653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C31A526-345A-4A63-BA59-FF91204E9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9847" y="59428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27432B5-3C17-4415-B09A-67FCBD636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1540" y="655922"/>
              <a:ext cx="466441" cy="46644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0E4DDCC-A5A9-4365-876A-7992F2CF4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03560" y="387281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A5DB42D-36BB-41F6-A512-3AFDD33ADA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63367" y="6122314"/>
              <a:ext cx="305780" cy="3057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03F45BD-67A0-4732-B626-9ECB4B18E2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0062" y="5959435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 descr="A chart of a diagram&#10;&#10;AI-generated content may be incorrect.">
            <a:extLst>
              <a:ext uri="{FF2B5EF4-FFF2-40B4-BE49-F238E27FC236}">
                <a16:creationId xmlns:a16="http://schemas.microsoft.com/office/drawing/2014/main" id="{7453274D-D115-7A03-B254-72F39D1E1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057" y="2207344"/>
            <a:ext cx="5102682" cy="265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528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3CA13-9D51-DEEF-390C-65AEFB9F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HealthRiskModel - ML Design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1643F-50C8-0B64-DA88-AC5FE345C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Task: Multi-class classification (Low=0, Medium=1, High=2).</a:t>
            </a:r>
          </a:p>
          <a:p>
            <a:r>
              <a:rPr lang="en-GB"/>
              <a:t>Imbalance Handling: SMOTE on training data (80/20 split).</a:t>
            </a:r>
          </a:p>
          <a:p>
            <a:r>
              <a:rPr lang="en-GB"/>
              <a:t>Models Evaluated: Logistic Regression, KNN, Decision Tree, Random Forest, Gradient Boosting.</a:t>
            </a:r>
          </a:p>
          <a:p>
            <a:r>
              <a:rPr lang="en-GB"/>
              <a:t>Selected Model: Decision Tree (best macro F1=0.329; interpretable for clinical use).Why Decision Tree? Balances classes, captures non-linear patterns, avoids majority bias.</a:t>
            </a:r>
          </a:p>
          <a:p>
            <a:r>
              <a:rPr lang="en-GB"/>
              <a:t>Progress: Models trained; best model serialized (HealthRiskModel_best_smote.joblib).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309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7796C-AEAF-C97D-CB8E-7E5DF80C1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Model Training &amp; Evaluation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F43CEC-6EFF-2322-5BD5-667E532750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1281933"/>
              </p:ext>
            </p:extLst>
          </p:nvPr>
        </p:nvGraphicFramePr>
        <p:xfrm>
          <a:off x="777875" y="1869034"/>
          <a:ext cx="10658475" cy="2194560"/>
        </p:xfrm>
        <a:graphic>
          <a:graphicData uri="http://schemas.openxmlformats.org/drawingml/2006/table">
            <a:tbl>
              <a:tblPr/>
              <a:tblGrid>
                <a:gridCol w="3552825">
                  <a:extLst>
                    <a:ext uri="{9D8B030D-6E8A-4147-A177-3AD203B41FA5}">
                      <a16:colId xmlns:a16="http://schemas.microsoft.com/office/drawing/2014/main" val="3473913658"/>
                    </a:ext>
                  </a:extLst>
                </a:gridCol>
                <a:gridCol w="3552825">
                  <a:extLst>
                    <a:ext uri="{9D8B030D-6E8A-4147-A177-3AD203B41FA5}">
                      <a16:colId xmlns:a16="http://schemas.microsoft.com/office/drawing/2014/main" val="1334859752"/>
                    </a:ext>
                  </a:extLst>
                </a:gridCol>
                <a:gridCol w="3552825">
                  <a:extLst>
                    <a:ext uri="{9D8B030D-6E8A-4147-A177-3AD203B41FA5}">
                      <a16:colId xmlns:a16="http://schemas.microsoft.com/office/drawing/2014/main" val="28593788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Macro F1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735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Logistic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0.314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0.257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182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KNN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0.331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0.265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784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Decision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0.580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0.329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984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0.751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0.286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691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Gradient Boosting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0.751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0.286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497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0056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2E752-8AD0-BBF1-1E33-F8CD2FFF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continue…</a:t>
            </a:r>
            <a:endParaRPr lang="en-GB" dirty="0"/>
          </a:p>
        </p:txBody>
      </p:sp>
      <p:pic>
        <p:nvPicPr>
          <p:cNvPr id="5" name="Content Placeholder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C84140FB-D3F4-EA07-D0D7-C6FB344F95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323" y="1825625"/>
            <a:ext cx="7315578" cy="4351338"/>
          </a:xfrm>
        </p:spPr>
      </p:pic>
    </p:spTree>
    <p:extLst>
      <p:ext uri="{BB962C8B-B14F-4D97-AF65-F5344CB8AC3E}">
        <p14:creationId xmlns:p14="http://schemas.microsoft.com/office/powerpoint/2010/main" val="301335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98D0-3827-8157-68F3-0D0B2730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Vaccination Status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B1D2C-219F-F218-6065-7F26E1495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Approach: Rule-based (deterministic, no ML needed).</a:t>
            </a:r>
          </a:p>
          <a:p>
            <a:r>
              <a:rPr lang="en-GB" b="1" dirty="0"/>
              <a:t>Rules: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Compute due/</a:t>
            </a:r>
            <a:r>
              <a:rPr lang="en-GB" dirty="0" err="1"/>
              <a:t>past_due</a:t>
            </a:r>
            <a:r>
              <a:rPr lang="en-GB" dirty="0"/>
              <a:t> vaccines from Rwanda schedule.</a:t>
            </a:r>
          </a:p>
          <a:p>
            <a:pPr lvl="1"/>
            <a:r>
              <a:rPr lang="en-GB" dirty="0"/>
              <a:t>Classify: Good (no overdue, done=Yes), Poor (overdue, done=No), Medium (partial).</a:t>
            </a:r>
          </a:p>
          <a:p>
            <a:pPr lvl="1"/>
            <a:r>
              <a:rPr lang="en-GB" dirty="0"/>
              <a:t>Generate alerts (e.g., urgent reminder if MR1 overdue &gt;30 days).</a:t>
            </a:r>
          </a:p>
          <a:p>
            <a:r>
              <a:rPr lang="en-US" dirty="0"/>
              <a:t>Progress: Logic implemented and integrated; achieves 100% accuracy on test data.</a:t>
            </a:r>
          </a:p>
          <a:p>
            <a:r>
              <a:rPr lang="en-US" b="1" dirty="0"/>
              <a:t>Why Rules?</a:t>
            </a:r>
            <a:r>
              <a:rPr lang="en-US" dirty="0"/>
              <a:t> Deterministic; ML overkill and less interpretable.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7861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38BFA-9F8D-7E94-EA04-A071C8258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System Workflow &amp;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9FFE6-E198-1D00-BDFC-54D822DD1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Steps: Data collection → Cleaning → Feature engineering → Preprocessing → Prediction → Alerts.</a:t>
            </a:r>
          </a:p>
          <a:p>
            <a:r>
              <a:rPr lang="en-US" dirty="0"/>
              <a:t>Inference Example: Load model, predict risk/probabilities, suggest actions (e.g., urgent referral for High risk).</a:t>
            </a:r>
          </a:p>
          <a:p>
            <a:r>
              <a:rPr lang="en-US" dirty="0"/>
              <a:t>Progress: Full end-to-end pipeline working; code in Appendix A3 (Inference Example).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1494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B540B8-6C41-6272-AB18-E68CD5999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Results &amp; Performance Highlights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6E65AE-102B-B850-4B77-CBA85D3A2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480" y="1825625"/>
            <a:ext cx="5242560" cy="435133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Strengths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dirty="0"/>
              <a:t>	 Macro F1=0.329 (balanced across 	classes); </a:t>
            </a:r>
          </a:p>
          <a:p>
            <a:pPr marL="0" indent="0">
              <a:buNone/>
            </a:pPr>
            <a:r>
              <a:rPr lang="en-GB" dirty="0"/>
              <a:t>	~71% Low-risk accuracy; alerts prioritize 	safety (more false positives OK).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Trade-offs</a:t>
            </a:r>
            <a:r>
              <a:rPr lang="en-GB" dirty="0"/>
              <a:t>: Lower precision for Medium/High; synthetic data limits real-world applicability.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Progress</a:t>
            </a:r>
            <a:r>
              <a:rPr lang="en-GB" dirty="0"/>
              <a:t>: Model ready for deployment; outperforms baselines on imbalanced data.</a:t>
            </a:r>
          </a:p>
        </p:txBody>
      </p:sp>
      <p:pic>
        <p:nvPicPr>
          <p:cNvPr id="11" name="Content Placeholder 10" descr="A graph of a chart&#10;&#10;AI-generated content may be incorrect.">
            <a:extLst>
              <a:ext uri="{FF2B5EF4-FFF2-40B4-BE49-F238E27FC236}">
                <a16:creationId xmlns:a16="http://schemas.microsoft.com/office/drawing/2014/main" id="{04A69818-9CBE-F4FD-48B2-F55DF2DFFB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0" y="2091928"/>
            <a:ext cx="6021421" cy="3818732"/>
          </a:xfrm>
        </p:spPr>
      </p:pic>
    </p:spTree>
    <p:extLst>
      <p:ext uri="{BB962C8B-B14F-4D97-AF65-F5344CB8AC3E}">
        <p14:creationId xmlns:p14="http://schemas.microsoft.com/office/powerpoint/2010/main" val="1714023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208F-2CBA-0AA2-FC0A-64C1C83A9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Limitations &amp;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592B4-EEE2-02D5-4E71-67A26B38A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Synthetic data may not match real-world.</a:t>
            </a:r>
          </a:p>
          <a:p>
            <a:r>
              <a:rPr lang="en-US" sz="3200" dirty="0"/>
              <a:t>Feature thresholds need refinement with experts.</a:t>
            </a:r>
          </a:p>
          <a:p>
            <a:r>
              <a:rPr lang="en-US" sz="3200" dirty="0"/>
              <a:t>Handles missing values poorly; no longitudinal data yet.</a:t>
            </a:r>
          </a:p>
          <a:p>
            <a:r>
              <a:rPr lang="en-US" sz="3200" dirty="0"/>
              <a:t>Resource constraints for deployment in rural areas.</a:t>
            </a:r>
          </a:p>
          <a:p>
            <a:r>
              <a:rPr lang="en-US" sz="3200" dirty="0"/>
              <a:t>Progress: Identified; plan to address in future work.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47886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FD8BC-351E-AADE-7DF1-F23265F46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A3AEE-4098-A634-7D11-A51DA0AFC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KIBONDO integrates ML and rules for automated risk monitoring and vaccination tracking.</a:t>
            </a:r>
          </a:p>
          <a:p>
            <a:r>
              <a:rPr lang="en-US" sz="2800" dirty="0"/>
              <a:t>Achieved balanced performance (macro F1=0.329); poised to improve child health in Rwanda.</a:t>
            </a:r>
          </a:p>
          <a:p>
            <a:r>
              <a:rPr lang="en-US" sz="2800" dirty="0"/>
              <a:t>Next Steps: Clinical validation, deployment, and scaling.</a:t>
            </a:r>
          </a:p>
          <a:p>
            <a:r>
              <a:rPr lang="en-US" sz="2800" dirty="0"/>
              <a:t>Call to Action: Seek feedback from Rwanda Ministry of Health and pediatricians.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440581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B5B3C5-A599-465B-B2B9-866E8B20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C84982-7DD0-43B1-8A2D-BFA4DF1B4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4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D767E3F-5FD8-43EF-92CC-71463D47E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326BAA-9686-4D37-B702-A459A43F9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10592A-CC65-B20F-BC85-4DE6DACA5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39" y="1122363"/>
            <a:ext cx="504748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706C5-A03B-7539-2A25-F9C17FE4B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39" y="3602038"/>
            <a:ext cx="5047488" cy="1655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-----</a:t>
            </a:r>
          </a:p>
        </p:txBody>
      </p:sp>
      <p:sp>
        <p:nvSpPr>
          <p:cNvPr id="35" name="Oval 1">
            <a:extLst>
              <a:ext uri="{FF2B5EF4-FFF2-40B4-BE49-F238E27FC236}">
                <a16:creationId xmlns:a16="http://schemas.microsoft.com/office/drawing/2014/main" id="{AB330529-CB1E-4112-8F01-435C2E299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1411" y="557332"/>
            <a:ext cx="5743337" cy="57433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decorative circles">
            <a:extLst>
              <a:ext uri="{FF2B5EF4-FFF2-40B4-BE49-F238E27FC236}">
                <a16:creationId xmlns:a16="http://schemas.microsoft.com/office/drawing/2014/main" id="{A6BAEEFE-5A15-4E44-B100-CFD7F5D6D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062" y="289695"/>
            <a:ext cx="4971115" cy="6138399"/>
            <a:chOff x="6870062" y="289695"/>
            <a:chExt cx="4971115" cy="6138399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F653A2A-2CD3-4B8D-B1DB-0B410110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43605" y="289695"/>
              <a:ext cx="226735" cy="226735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B14CA02-0561-4C97-8FF3-95C5A56793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74736" y="5667686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D1DCF05-9A46-4ED2-9213-6762C6975A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27805" y="5275653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C2DFB0F-9C5B-42B4-A4C5-1C4308E5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9847" y="59428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9002102-7C3F-4562-B6C9-B6662E8A2A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1540" y="655922"/>
              <a:ext cx="466441" cy="46644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8ABC509-D5C1-4B54-88A3-76D47A1AEC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03560" y="387281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9564177-4282-4F98-81F4-F758FF774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63367" y="6122314"/>
              <a:ext cx="305780" cy="3057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B760430-7B8B-4E35-A89B-197E329999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0062" y="5959435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4D4B87FC-B1CA-0EBF-E8F2-B2D030044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9476" y="1650594"/>
            <a:ext cx="3607206" cy="360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47519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Custom 30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7446E"/>
      </a:accent1>
      <a:accent2>
        <a:srgbClr val="A40056"/>
      </a:accent2>
      <a:accent3>
        <a:srgbClr val="24BEEE"/>
      </a:accent3>
      <a:accent4>
        <a:srgbClr val="91274F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795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Gill Sans Nova</vt:lpstr>
      <vt:lpstr>ConfettiVTI</vt:lpstr>
      <vt:lpstr>IKIBONDO: AI-driven baby health risk monitoring and vaccination scheduling system</vt:lpstr>
      <vt:lpstr>Project overview &amp; motivation</vt:lpstr>
      <vt:lpstr>System Architecture</vt:lpstr>
      <vt:lpstr>Data &amp; Preprocessing</vt:lpstr>
      <vt:lpstr>HealthRiskModel - ML Design</vt:lpstr>
      <vt:lpstr>Model Training &amp; Evaluation</vt:lpstr>
      <vt:lpstr>Progress continue…</vt:lpstr>
      <vt:lpstr>Vaccination Status Logic</vt:lpstr>
      <vt:lpstr>System Workflow &amp; Inference</vt:lpstr>
      <vt:lpstr>Results &amp; Performance Highlights</vt:lpstr>
      <vt:lpstr>Limitations &amp; Challenges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IRUMVAGad Anaclet</dc:creator>
  <cp:lastModifiedBy>IRUMVAGad Anaclet</cp:lastModifiedBy>
  <cp:revision>2</cp:revision>
  <dcterms:created xsi:type="dcterms:W3CDTF">2025-12-11T08:35:44Z</dcterms:created>
  <dcterms:modified xsi:type="dcterms:W3CDTF">2025-12-11T09:02:03Z</dcterms:modified>
</cp:coreProperties>
</file>